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Engineering health</c:v>
                </c:pt>
              </c:strCache>
            </c:strRef>
          </c:tx>
          <c:spPr>
            <a:ln w="34925">
              <a:solidFill>
                <a:srgbClr val="16191D"/>
              </a:solidFill>
            </a:ln>
          </c:spPr>
          <c:marker>
            <c:symbol val="circle"/>
            <c:size val="4"/>
            <c:spPr>
              <a:solidFill>
                <a:srgbClr val="16191D"/>
              </a:solidFill>
              <a:ln>
                <a:solidFill>
                  <a:srgbClr val="16191D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75.7</c:v>
                </c:pt>
                <c:pt idx="1">
                  <c:v>78.2</c:v>
                </c:pt>
                <c:pt idx="2">
                  <c:v>76.9</c:v>
                </c:pt>
                <c:pt idx="3">
                  <c:v>77.3</c:v>
                </c:pt>
                <c:pt idx="4">
                  <c:v>77.2</c:v>
                </c:pt>
                <c:pt idx="5">
                  <c:v>77.0</c:v>
                </c:pt>
                <c:pt idx="6">
                  <c:v>76.7</c:v>
                </c:pt>
                <c:pt idx="7">
                  <c:v>75.5</c:v>
                </c:pt>
                <c:pt idx="8">
                  <c:v>75.4</c:v>
                </c:pt>
                <c:pt idx="9">
                  <c:v>74.3</c:v>
                </c:pt>
                <c:pt idx="10">
                  <c:v>70.7</c:v>
                </c:pt>
                <c:pt idx="11">
                  <c:v>69.8</c:v>
                </c:pt>
                <c:pt idx="12">
                  <c:v>66.2</c:v>
                </c:pt>
                <c:pt idx="13">
                  <c:v>64.0</c:v>
                </c:pt>
                <c:pt idx="14">
                  <c:v>66.2</c:v>
                </c:pt>
                <c:pt idx="15">
                  <c:v>63.8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Delivery</c:v>
                </c:pt>
              </c:strCache>
            </c:strRef>
          </c:tx>
          <c:spPr>
            <a:ln w="19050">
              <a:solidFill>
                <a:srgbClr val="B4361F"/>
              </a:solidFill>
            </a:ln>
          </c:spPr>
          <c:marker>
            <c:symbol val="circle"/>
            <c:size val="3"/>
            <c:spPr>
              <a:solidFill>
                <a:srgbClr val="B4361F"/>
              </a:solidFill>
              <a:ln>
                <a:solidFill>
                  <a:srgbClr val="B4361F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81.8</c:v>
                </c:pt>
                <c:pt idx="1">
                  <c:v>82.5</c:v>
                </c:pt>
                <c:pt idx="2">
                  <c:v>76.2</c:v>
                </c:pt>
                <c:pt idx="3">
                  <c:v>77.6</c:v>
                </c:pt>
                <c:pt idx="4">
                  <c:v>71.2</c:v>
                </c:pt>
                <c:pt idx="5">
                  <c:v>71.4</c:v>
                </c:pt>
                <c:pt idx="6">
                  <c:v>70.7</c:v>
                </c:pt>
                <c:pt idx="7">
                  <c:v>70.2</c:v>
                </c:pt>
                <c:pt idx="8">
                  <c:v>74.3</c:v>
                </c:pt>
                <c:pt idx="9">
                  <c:v>74.0</c:v>
                </c:pt>
                <c:pt idx="10">
                  <c:v>74.8</c:v>
                </c:pt>
                <c:pt idx="11">
                  <c:v>71.4</c:v>
                </c:pt>
                <c:pt idx="12">
                  <c:v>68.2</c:v>
                </c:pt>
                <c:pt idx="13">
                  <c:v>62.3</c:v>
                </c:pt>
                <c:pt idx="14">
                  <c:v>60.7</c:v>
                </c:pt>
                <c:pt idx="15">
                  <c:v>58.6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Quality</c:v>
                </c:pt>
              </c:strCache>
            </c:strRef>
          </c:tx>
          <c:spPr>
            <a:ln w="19050">
              <a:solidFill>
                <a:srgbClr val="9A6A0C"/>
              </a:solidFill>
            </a:ln>
          </c:spPr>
          <c:marker>
            <c:symbol val="circle"/>
            <c:size val="3"/>
            <c:spPr>
              <a:solidFill>
                <a:srgbClr val="9A6A0C"/>
              </a:solidFill>
              <a:ln>
                <a:solidFill>
                  <a:srgbClr val="9A6A0C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68.0</c:v>
                </c:pt>
                <c:pt idx="1">
                  <c:v>75.1</c:v>
                </c:pt>
                <c:pt idx="2">
                  <c:v>73.3</c:v>
                </c:pt>
                <c:pt idx="3">
                  <c:v>75.0</c:v>
                </c:pt>
                <c:pt idx="4">
                  <c:v>76.3</c:v>
                </c:pt>
                <c:pt idx="5">
                  <c:v>74.8</c:v>
                </c:pt>
                <c:pt idx="6">
                  <c:v>74.5</c:v>
                </c:pt>
                <c:pt idx="7">
                  <c:v>74.7</c:v>
                </c:pt>
                <c:pt idx="8">
                  <c:v>73.7</c:v>
                </c:pt>
                <c:pt idx="9">
                  <c:v>74.4</c:v>
                </c:pt>
                <c:pt idx="10">
                  <c:v>72.5</c:v>
                </c:pt>
                <c:pt idx="11">
                  <c:v>69.2</c:v>
                </c:pt>
                <c:pt idx="12">
                  <c:v>65.8</c:v>
                </c:pt>
                <c:pt idx="13">
                  <c:v>61.6</c:v>
                </c:pt>
                <c:pt idx="14">
                  <c:v>63.9</c:v>
                </c:pt>
                <c:pt idx="15">
                  <c:v>61.3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Reliability</c:v>
                </c:pt>
              </c:strCache>
            </c:strRef>
          </c:tx>
          <c:spPr>
            <a:ln w="19050">
              <a:solidFill>
                <a:srgbClr val="0E6B63"/>
              </a:solidFill>
            </a:ln>
          </c:spPr>
          <c:marker>
            <c:symbol val="circle"/>
            <c:size val="3"/>
            <c:spPr>
              <a:solidFill>
                <a:srgbClr val="0E6B63"/>
              </a:solidFill>
              <a:ln>
                <a:solidFill>
                  <a:srgbClr val="0E6B63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77.7</c:v>
                </c:pt>
                <c:pt idx="1">
                  <c:v>80.4</c:v>
                </c:pt>
                <c:pt idx="2">
                  <c:v>83.3</c:v>
                </c:pt>
                <c:pt idx="3">
                  <c:v>81.4</c:v>
                </c:pt>
                <c:pt idx="4">
                  <c:v>86.2</c:v>
                </c:pt>
                <c:pt idx="5">
                  <c:v>86.7</c:v>
                </c:pt>
                <c:pt idx="6">
                  <c:v>86.4</c:v>
                </c:pt>
                <c:pt idx="7">
                  <c:v>82.1</c:v>
                </c:pt>
                <c:pt idx="8">
                  <c:v>79.0</c:v>
                </c:pt>
                <c:pt idx="9">
                  <c:v>74.5</c:v>
                </c:pt>
                <c:pt idx="10">
                  <c:v>64.3</c:v>
                </c:pt>
                <c:pt idx="11">
                  <c:v>67.7</c:v>
                </c:pt>
                <c:pt idx="12">
                  <c:v>60.1</c:v>
                </c:pt>
                <c:pt idx="13">
                  <c:v>62.0</c:v>
                </c:pt>
                <c:pt idx="14">
                  <c:v>67.7</c:v>
                </c:pt>
                <c:pt idx="15">
                  <c:v>64.0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Efficiency</c:v>
                </c:pt>
              </c:strCache>
            </c:strRef>
          </c:tx>
          <c:spPr>
            <a:ln w="19050">
              <a:solidFill>
                <a:srgbClr val="8A9098"/>
              </a:solidFill>
            </a:ln>
          </c:spPr>
          <c:marker>
            <c:symbol val="circle"/>
            <c:size val="3"/>
            <c:spPr>
              <a:solidFill>
                <a:srgbClr val="8A9098"/>
              </a:solidFill>
              <a:ln>
                <a:solidFill>
                  <a:srgbClr val="8A9098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75.2</c:v>
                </c:pt>
                <c:pt idx="1">
                  <c:v>74.7</c:v>
                </c:pt>
                <c:pt idx="2">
                  <c:v>74.9</c:v>
                </c:pt>
                <c:pt idx="3">
                  <c:v>75.1</c:v>
                </c:pt>
                <c:pt idx="4">
                  <c:v>75.2</c:v>
                </c:pt>
                <c:pt idx="5">
                  <c:v>75.2</c:v>
                </c:pt>
                <c:pt idx="6">
                  <c:v>75.3</c:v>
                </c:pt>
                <c:pt idx="7">
                  <c:v>74.9</c:v>
                </c:pt>
                <c:pt idx="8">
                  <c:v>74.6</c:v>
                </c:pt>
                <c:pt idx="9">
                  <c:v>74.3</c:v>
                </c:pt>
                <c:pt idx="10">
                  <c:v>71.0</c:v>
                </c:pt>
                <c:pt idx="11">
                  <c:v>70.8</c:v>
                </c:pt>
                <c:pt idx="12">
                  <c:v>70.6</c:v>
                </c:pt>
                <c:pt idx="13">
                  <c:v>69.9</c:v>
                </c:pt>
                <c:pt idx="14">
                  <c:v>72.2</c:v>
                </c:pt>
                <c:pt idx="15">
                  <c:v>71.4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DBD5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0.0"/>
          <c:min val="55.0"/>
        </c:scaling>
        <c:delete val="0"/>
        <c:axPos val="l"/>
        <c:majorGridlines>
          <c:spPr>
            <a:ln>
              <a:solidFill>
                <a:srgbClr val="DEDBD5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5.0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666B7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Phoenix</c:v>
                </c:pt>
              </c:strCache>
            </c:strRef>
          </c:tx>
          <c:spPr>
            <a:ln w="34925">
              <a:solidFill>
                <a:srgbClr val="2E7D4F"/>
              </a:solidFill>
            </a:ln>
          </c:spPr>
          <c:marker>
            <c:symbol val="circle"/>
            <c:size val="4"/>
            <c:spPr>
              <a:solidFill>
                <a:srgbClr val="2E7D4F"/>
              </a:solidFill>
              <a:ln>
                <a:solidFill>
                  <a:srgbClr val="2E7D4F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63.85</c:v>
                </c:pt>
                <c:pt idx="1">
                  <c:v>64.2</c:v>
                </c:pt>
                <c:pt idx="2">
                  <c:v>64.3</c:v>
                </c:pt>
                <c:pt idx="3">
                  <c:v>65.05</c:v>
                </c:pt>
                <c:pt idx="4">
                  <c:v>66.25</c:v>
                </c:pt>
                <c:pt idx="5">
                  <c:v>67.85</c:v>
                </c:pt>
                <c:pt idx="6">
                  <c:v>69.3</c:v>
                </c:pt>
                <c:pt idx="7">
                  <c:v>69.55</c:v>
                </c:pt>
                <c:pt idx="8">
                  <c:v>70.6</c:v>
                </c:pt>
                <c:pt idx="9">
                  <c:v>73.1</c:v>
                </c:pt>
                <c:pt idx="10">
                  <c:v>73.1</c:v>
                </c:pt>
                <c:pt idx="11">
                  <c:v>74.75</c:v>
                </c:pt>
                <c:pt idx="12">
                  <c:v>75.6</c:v>
                </c:pt>
                <c:pt idx="13">
                  <c:v>76.55</c:v>
                </c:pt>
                <c:pt idx="14">
                  <c:v>77.15</c:v>
                </c:pt>
                <c:pt idx="15">
                  <c:v>76.7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Organisation</c:v>
                </c:pt>
              </c:strCache>
            </c:strRef>
          </c:tx>
          <c:spPr>
            <a:ln w="19050">
              <a:solidFill>
                <a:srgbClr val="9AA0A7"/>
              </a:solidFill>
            </a:ln>
          </c:spPr>
          <c:marker>
            <c:symbol val="circle"/>
            <c:size val="3"/>
            <c:spPr>
              <a:solidFill>
                <a:srgbClr val="9AA0A7"/>
              </a:solidFill>
              <a:ln>
                <a:solidFill>
                  <a:srgbClr val="9AA0A7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70.97</c:v>
                </c:pt>
                <c:pt idx="1">
                  <c:v>70.91</c:v>
                </c:pt>
                <c:pt idx="2">
                  <c:v>70.9</c:v>
                </c:pt>
                <c:pt idx="3">
                  <c:v>71.42</c:v>
                </c:pt>
                <c:pt idx="4">
                  <c:v>71.56</c:v>
                </c:pt>
                <c:pt idx="6">
                  <c:v>72.27</c:v>
                </c:pt>
                <c:pt idx="7">
                  <c:v>71.99</c:v>
                </c:pt>
                <c:pt idx="8">
                  <c:v>71.95</c:v>
                </c:pt>
                <c:pt idx="9">
                  <c:v>71.95</c:v>
                </c:pt>
                <c:pt idx="10">
                  <c:v>71.81</c:v>
                </c:pt>
                <c:pt idx="11">
                  <c:v>72.08</c:v>
                </c:pt>
                <c:pt idx="12">
                  <c:v>71.82</c:v>
                </c:pt>
                <c:pt idx="13">
                  <c:v>71.69</c:v>
                </c:pt>
                <c:pt idx="14">
                  <c:v>71.89</c:v>
                </c:pt>
                <c:pt idx="15">
                  <c:v>71.3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DBD5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0.0"/>
          <c:min val="60.0"/>
        </c:scaling>
        <c:delete val="0"/>
        <c:axPos val="l"/>
        <c:majorGridlines>
          <c:spPr>
            <a:ln>
              <a:solidFill>
                <a:srgbClr val="DEDBD5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5.0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666B7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Atlas</c:v>
                </c:pt>
              </c:strCache>
            </c:strRef>
          </c:tx>
          <c:spPr>
            <a:ln w="34925">
              <a:solidFill>
                <a:srgbClr val="B4361F"/>
              </a:solidFill>
            </a:ln>
          </c:spPr>
          <c:marker>
            <c:symbol val="circle"/>
            <c:size val="4"/>
            <c:spPr>
              <a:solidFill>
                <a:srgbClr val="B4361F"/>
              </a:solidFill>
              <a:ln>
                <a:solidFill>
                  <a:srgbClr val="B4361F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3.235</c:v>
                </c:pt>
                <c:pt idx="1">
                  <c:v>3.22</c:v>
                </c:pt>
                <c:pt idx="2">
                  <c:v>3.26</c:v>
                </c:pt>
                <c:pt idx="3">
                  <c:v>3.255</c:v>
                </c:pt>
                <c:pt idx="4">
                  <c:v>3.335</c:v>
                </c:pt>
                <c:pt idx="5">
                  <c:v>3.205</c:v>
                </c:pt>
                <c:pt idx="6">
                  <c:v>3.24</c:v>
                </c:pt>
                <c:pt idx="7">
                  <c:v>3.415</c:v>
                </c:pt>
                <c:pt idx="8">
                  <c:v>3.53</c:v>
                </c:pt>
                <c:pt idx="9">
                  <c:v>3.965</c:v>
                </c:pt>
                <c:pt idx="10">
                  <c:v>4.26</c:v>
                </c:pt>
                <c:pt idx="11">
                  <c:v>4.195</c:v>
                </c:pt>
                <c:pt idx="12">
                  <c:v>4.28</c:v>
                </c:pt>
                <c:pt idx="13">
                  <c:v>4.525</c:v>
                </c:pt>
                <c:pt idx="14">
                  <c:v>5.2</c:v>
                </c:pt>
                <c:pt idx="15">
                  <c:v>5.115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Organisation</c:v>
                </c:pt>
              </c:strCache>
            </c:strRef>
          </c:tx>
          <c:spPr>
            <a:ln w="19050">
              <a:solidFill>
                <a:srgbClr val="9AA0A7"/>
              </a:solidFill>
            </a:ln>
          </c:spPr>
          <c:marker>
            <c:symbol val="circle"/>
            <c:size val="3"/>
            <c:spPr>
              <a:solidFill>
                <a:srgbClr val="9AA0A7"/>
              </a:solidFill>
              <a:ln>
                <a:solidFill>
                  <a:srgbClr val="9AA0A7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2.835</c:v>
                </c:pt>
                <c:pt idx="1">
                  <c:v>2.778</c:v>
                </c:pt>
                <c:pt idx="2">
                  <c:v>2.792</c:v>
                </c:pt>
                <c:pt idx="3">
                  <c:v>2.776</c:v>
                </c:pt>
                <c:pt idx="4">
                  <c:v>2.826</c:v>
                </c:pt>
                <c:pt idx="5">
                  <c:v>2.799</c:v>
                </c:pt>
                <c:pt idx="6">
                  <c:v>2.791</c:v>
                </c:pt>
                <c:pt idx="7">
                  <c:v>2.794</c:v>
                </c:pt>
                <c:pt idx="8">
                  <c:v>2.792</c:v>
                </c:pt>
                <c:pt idx="9">
                  <c:v>2.89</c:v>
                </c:pt>
                <c:pt idx="10">
                  <c:v>2.918</c:v>
                </c:pt>
                <c:pt idx="11">
                  <c:v>2.899</c:v>
                </c:pt>
                <c:pt idx="12">
                  <c:v>2.918</c:v>
                </c:pt>
                <c:pt idx="13">
                  <c:v>2.926</c:v>
                </c:pt>
                <c:pt idx="14">
                  <c:v>3.019</c:v>
                </c:pt>
                <c:pt idx="15">
                  <c:v>3.021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DBD5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.5"/>
          <c:min val="2.5"/>
        </c:scaling>
        <c:delete val="0"/>
        <c:axPos val="l"/>
        <c:majorGridlines>
          <c:spPr>
            <a:ln>
              <a:solidFill>
                <a:srgbClr val="DEDBD5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0.5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666B7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platform</c:v>
                </c:pt>
              </c:strCache>
            </c:strRef>
          </c:tx>
          <c:spPr>
            <a:ln w="34925">
              <a:solidFill>
                <a:srgbClr val="B4361F"/>
              </a:solidFill>
            </a:ln>
          </c:spPr>
          <c:marker>
            <c:symbol val="circle"/>
            <c:size val="4"/>
            <c:spPr>
              <a:solidFill>
                <a:srgbClr val="B4361F"/>
              </a:solidFill>
              <a:ln>
                <a:solidFill>
                  <a:srgbClr val="B4361F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0.0</c:v>
                </c:pt>
                <c:pt idx="1">
                  <c:v>6.25</c:v>
                </c:pt>
                <c:pt idx="2">
                  <c:v>4.255</c:v>
                </c:pt>
                <c:pt idx="3">
                  <c:v>4.918</c:v>
                </c:pt>
                <c:pt idx="4">
                  <c:v>8.475</c:v>
                </c:pt>
                <c:pt idx="5">
                  <c:v>5.0</c:v>
                </c:pt>
                <c:pt idx="6">
                  <c:v>7.937</c:v>
                </c:pt>
                <c:pt idx="7">
                  <c:v>7.143</c:v>
                </c:pt>
                <c:pt idx="8">
                  <c:v>5.195</c:v>
                </c:pt>
                <c:pt idx="9">
                  <c:v>6.25</c:v>
                </c:pt>
                <c:pt idx="10">
                  <c:v>8.537</c:v>
                </c:pt>
                <c:pt idx="11">
                  <c:v>11.111</c:v>
                </c:pt>
                <c:pt idx="12">
                  <c:v>15.0</c:v>
                </c:pt>
                <c:pt idx="13">
                  <c:v>19.048</c:v>
                </c:pt>
                <c:pt idx="14">
                  <c:v>22.093</c:v>
                </c:pt>
                <c:pt idx="15">
                  <c:v>27.059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Organisation</c:v>
                </c:pt>
              </c:strCache>
            </c:strRef>
          </c:tx>
          <c:spPr>
            <a:ln w="19050">
              <a:solidFill>
                <a:srgbClr val="9AA0A7"/>
              </a:solidFill>
            </a:ln>
          </c:spPr>
          <c:marker>
            <c:symbol val="circle"/>
            <c:size val="3"/>
            <c:spPr>
              <a:solidFill>
                <a:srgbClr val="9AA0A7"/>
              </a:solidFill>
              <a:ln>
                <a:solidFill>
                  <a:srgbClr val="9AA0A7"/>
                </a:solidFill>
              </a:ln>
            </c:spPr>
          </c:marker>
          <c:cat>
            <c:strRef>
              <c:f>Sheet1!$A$2:$A$17</c:f>
              <c:strCache>
                <c:ptCount val="1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3.371</c:v>
                </c:pt>
                <c:pt idx="1">
                  <c:v>3.261</c:v>
                </c:pt>
                <c:pt idx="2">
                  <c:v>4.779</c:v>
                </c:pt>
                <c:pt idx="3">
                  <c:v>3.944</c:v>
                </c:pt>
                <c:pt idx="4">
                  <c:v>5.915</c:v>
                </c:pt>
                <c:pt idx="5">
                  <c:v>5.307</c:v>
                </c:pt>
                <c:pt idx="6">
                  <c:v>5.587</c:v>
                </c:pt>
                <c:pt idx="7">
                  <c:v>6.504</c:v>
                </c:pt>
                <c:pt idx="8">
                  <c:v>4.878</c:v>
                </c:pt>
                <c:pt idx="9">
                  <c:v>5.42</c:v>
                </c:pt>
                <c:pt idx="10">
                  <c:v>5.305</c:v>
                </c:pt>
                <c:pt idx="11">
                  <c:v>5.483</c:v>
                </c:pt>
                <c:pt idx="12">
                  <c:v>6.17</c:v>
                </c:pt>
                <c:pt idx="13">
                  <c:v>7.692</c:v>
                </c:pt>
                <c:pt idx="14">
                  <c:v>8.184</c:v>
                </c:pt>
                <c:pt idx="15">
                  <c:v>9.548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DBD5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0.0"/>
        </c:scaling>
        <c:delete val="0"/>
        <c:axPos val="l"/>
        <c:majorGridlines>
          <c:spPr>
            <a:ln>
              <a:solidFill>
                <a:srgbClr val="DEDBD5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5.0"/>
      </c:valAx>
    </c:plotArea>
    <c:legend>
      <c:legendPos val="t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666B7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6B63"/>
            </a:solidFill>
          </c:spPr>
          <c:cat>
            <c:strRef>
              <c:f>Sheet1!$A$2:$A$7</c:f>
              <c:strCache>
                <c:ptCount val="6"/>
                <c:pt idx="0">
                  <c:v>Data completeness</c:v>
                </c:pt>
                <c:pt idx="1">
                  <c:v>Observations</c:v>
                </c:pt>
                <c:pt idx="2">
                  <c:v>Consistency</c:v>
                </c:pt>
                <c:pt idx="3">
                  <c:v>Magnitude</c:v>
                </c:pt>
                <c:pt idx="4">
                  <c:v>Evidence quality</c:v>
                </c:pt>
                <c:pt idx="5">
                  <c:v>Validation verdict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</c:v>
                </c:pt>
                <c:pt idx="1">
                  <c:v>0.2</c:v>
                </c:pt>
                <c:pt idx="2">
                  <c:v>0.25</c:v>
                </c:pt>
                <c:pt idx="3">
                  <c:v>0.15</c:v>
                </c:pt>
                <c:pt idx="4">
                  <c:v>0.1</c:v>
                </c:pt>
                <c:pt idx="5">
                  <c:v>0.1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6191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decide on two critical risks and endorse four actions. Everything in this deck comes from an 8-agent analysis pipeline over 16 weeks of synthetic engineering data. Every number was validated against its source records before it reached 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messages. Two critical risks: Atlas is slowing down and losing quality at the same time; the Data platform's releases fail far more often. Phoenix improved on every quality and delivery measure we track, so its practices are worth spreading. The Nova week-11 spike was a one-off that recovered the next week; it needs a post-incident check, not a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health index is relative: 75 means the organisation's own level in weeks 1 to 4; 100 is 25% or more better, 50 is 25% worse. Cards show a 4-week rolling average. Delivery fell most, mainly from Atlas's slower flow and the Data platform's failed releases.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Phoenix improved on coverage, automation, cycle time and release reliability. Its escaped-defect rate also fell, from 16.7% to 4.2%, but that rests on 6/36 vs 1/24 defects (p = 0.14). The system does not call that a trend yet, and neither should we.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Atlas, flow and quality degrade together. Review time and cycle time rose while coverage and automation fell and defects doubled. This is association, not a diagnosis. The leading-indicator analysis says coverage changes preceded defect changes by one week. That makes coverage the first place to look, not a proven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bar starts in the week a validated trend began and runs to week 16. A trend needs at least 5 weeks, a significant monotonic change, at least 10% (or 3 percentage points for rates), and an effect of at least 2 times normal noise. That is why the week-11 spike at Nova does not appear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are ranked by severity points (number of deteriorating metrics, size of change, tier-1 services, reliability impact), then by validated confidence. A one-week disruption is capped at LOW by rule. Every risk passed evidence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platform's change failure rate rose from 5.4% to 27.1%, with rollbacks and incidents following. Post-incident reviews attributed more incidents to changes (50% to 80%), but with p = 0.097 this is a lead to check, not a conclusion. A tempting explanation, that rising on-call load drives rollbacks, was rejected: the two only share a time trend.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are averages over weeks 13 to 16. Red cells are at least 15% worse than the median team, green at least 15% better. Atlas trails on flow and quality; Titan and Orion carry the Data platform's release failures; Phoenix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action names an owner and a measurable target from the evidence. P1 actions address the two critical risks and the high-confidence Atlas risks. The Nova action is deliberately light: confirm the post-incident review and act only if the spike recurs.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Targets bring each lead metric back within one trend threshold of its own baseline. They are review points, not stretch goals. If a target is missed at week 22, the risk stays open and the evidence is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narrow agents with explicit contracts. Code does all arithmetic; AI is used only for wording, and its wording is checked again. The validation gate stops the run on bad data. The evidence validator can reject any finding, and recommendations built on a rejected finding are regenerated.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evidence validator re-computed every finding and rejected 4. The most instructive rejection is shown: throughput and build time at Titan move together (r = 0.9), but both follow headcount (r = 0.96); after controlling for it the association is -0.34. Correlation is not causation. Confidence is computed from six named components, never typed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Methodology and limitations. All data is synthetic; no real organisation is represented.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7FC8BE"/>
                </a:solidFill>
                <a:latin typeface="Calibri"/>
              </a:rPr>
              <a:t>ENGINEERING HEALTH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Two risks need leadership attention, and one team shows the way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9476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CDD2"/>
                </a:solidFill>
                <a:latin typeface="Calibri"/>
              </a:rPr>
              <a:t>Weeks 1–16 · 2026-06-15 to 2026-09-28 (week starts)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CDD2"/>
                </a:solidFill>
                <a:latin typeface="Calibri"/>
              </a:rPr>
              <a:t>Synthetic organisation · 5 teams · 4 platforms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23444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2327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1463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EA4AB"/>
                </a:solidFill>
                <a:latin typeface="Calibri"/>
              </a:rPr>
              <a:t>ENGINEERING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78308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63.8</a:t>
            </a:r>
            <a:r>
              <a:rPr sz="1800" b="0" i="0">
                <a:solidFill>
                  <a:srgbClr val="9EA4AB"/>
                </a:solidFill>
                <a:latin typeface="Calibri"/>
              </a:rPr>
              <a:t>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8803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0A08F"/>
                </a:solidFill>
                <a:latin typeface="Calibri"/>
              </a:rPr>
              <a:t>-11.9 points since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2918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EA4AB"/>
                </a:solidFill>
                <a:latin typeface="Calibri"/>
              </a:rPr>
              <a:t>Relative index: 75 = organisation level in weeks 1–4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EA4AB"/>
                </a:solidFill>
                <a:latin typeface="Calibri"/>
              </a:rPr>
              <a:t>Data quality 93.8/100 · 291 findings checked: 276 passed, 11 with caveats, 4 rejected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Health is down 11.9 points, driven by two critical risks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37943"/>
            <a:ext cx="237744" cy="237744"/>
          </a:xfrm>
          <a:prstGeom prst="ellipse">
            <a:avLst/>
          </a:prstGeom>
          <a:solidFill>
            <a:srgbClr val="A32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191D"/>
                </a:solidFill>
                <a:latin typeface="Calibri"/>
              </a:rPr>
              <a:t>Atlas is slowing down and losing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B73"/>
                </a:solidFill>
                <a:latin typeface="Calibri"/>
              </a:rPr>
              <a:t>Cycle time 3.2 d → 4.5 d (+39%) · defects 6 → 12 per week · coverage 72% → 63.2%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16936"/>
            <a:ext cx="237744" cy="237744"/>
          </a:xfrm>
          <a:prstGeom prst="ellipse">
            <a:avLst/>
          </a:prstGeom>
          <a:solidFill>
            <a:srgbClr val="A32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62072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191D"/>
                </a:solidFill>
                <a:latin typeface="Calibri"/>
              </a:rPr>
              <a:t>Data platform releases fail far more often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27832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B73"/>
                </a:solidFill>
                <a:latin typeface="Calibri"/>
              </a:rPr>
              <a:t>Change failure rate 5.4% → 27.1% · rollbacks 1.1% → 25.9% · incidents 1 → 5.5 per week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95927"/>
            <a:ext cx="237744" cy="237744"/>
          </a:xfrm>
          <a:prstGeom prst="ellipse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41063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191D"/>
                </a:solidFill>
                <a:latin typeface="Calibri"/>
              </a:rPr>
              <a:t>Phoenix improved across quality and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06824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B73"/>
                </a:solidFill>
                <a:latin typeface="Calibri"/>
              </a:rPr>
              <a:t>Coverage 64.7% → 76.6% · cycle time 2.6 d → 1.8 d · change failure rate 5.4% → 0%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074919"/>
            <a:ext cx="237744" cy="237744"/>
          </a:xfrm>
          <a:prstGeom prst="ellipse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020055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191D"/>
                </a:solidFill>
                <a:latin typeface="Calibri"/>
              </a:rPr>
              <a:t>Nova's week-11 spike was a one-off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385816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666B73"/>
                </a:solidFill>
                <a:latin typeface="Calibri"/>
              </a:rPr>
              <a:t>CI failure rate 41% against an expected 7.2%; back to normal the next week. No structural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44768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Changes compare weeks 13–16 with weeks 1–6 (medians; pooled rates for percentages), as tested.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639312" cy="43434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65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WHAT WE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860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6191D"/>
                </a:solidFill>
                <a:latin typeface="Cambria"/>
              </a:rPr>
              <a:t>Endorse 4 priority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3200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0E6B63"/>
                </a:solidFill>
                <a:latin typeface="Calibri"/>
              </a:rPr>
              <a:t>P1  </a:t>
            </a:r>
            <a:r>
              <a:rPr sz="1400" b="0" i="0">
                <a:solidFill>
                  <a:srgbClr val="16191D"/>
                </a:solidFill>
                <a:latin typeface="Calibri"/>
              </a:rPr>
              <a:t>Unblock code review: reviewer load, turnaround target, rotation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0E6B63"/>
                </a:solidFill>
                <a:latin typeface="Calibri"/>
              </a:rPr>
              <a:t>P1  </a:t>
            </a:r>
            <a:r>
              <a:rPr sz="1400" b="0" i="0">
                <a:solidFill>
                  <a:srgbClr val="16191D"/>
                </a:solidFill>
                <a:latin typeface="Calibri"/>
              </a:rPr>
              <a:t>Find where coverage fell and gate coverage on changed code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0E6B63"/>
                </a:solidFill>
                <a:latin typeface="Calibri"/>
              </a:rPr>
              <a:t>P1  </a:t>
            </a:r>
            <a:r>
              <a:rPr sz="1400" b="0" i="0">
                <a:solidFill>
                  <a:srgbClr val="16191D"/>
                </a:solidFill>
                <a:latin typeface="Calibri"/>
              </a:rPr>
              <a:t>Run a joint failed-deployment review and tighten release gating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0E6B63"/>
                </a:solidFill>
                <a:latin typeface="Calibri"/>
              </a:rPr>
              <a:t>P1  </a:t>
            </a:r>
            <a:r>
              <a:rPr sz="1400" b="0" i="0">
                <a:solidFill>
                  <a:srgbClr val="16191D"/>
                </a:solidFill>
                <a:latin typeface="Calibri"/>
              </a:rPr>
              <a:t>Ship smaller, independently reviewable PRs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ENGINEERING HEALTH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Health is down 11.9 points since week 1; delivery fell most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035454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9656"/>
            <a:ext cx="16696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ENGINEERING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16696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63.8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51176"/>
            <a:ext cx="166969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-11.9 since W1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2694" y="1691640"/>
            <a:ext cx="2035454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5574" y="1819656"/>
            <a:ext cx="16696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5574" y="2039112"/>
            <a:ext cx="16696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58.6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5574" y="2551176"/>
            <a:ext cx="166969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-23.2 since W1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6748" y="1691640"/>
            <a:ext cx="2035454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9628" y="1819656"/>
            <a:ext cx="16696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9628" y="2039112"/>
            <a:ext cx="16696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61.3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9628" y="2551176"/>
            <a:ext cx="166969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-6.7 since W1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0803" y="1691640"/>
            <a:ext cx="2035454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3683" y="1819656"/>
            <a:ext cx="16696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3683" y="2039112"/>
            <a:ext cx="16696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3683" y="2551176"/>
            <a:ext cx="166969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-13.7 since W1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4857" y="1691640"/>
            <a:ext cx="2035454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7737" y="1819656"/>
            <a:ext cx="16696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7737" y="2039112"/>
            <a:ext cx="166969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71.4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7737" y="2551176"/>
            <a:ext cx="166969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-3.8 since W1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3154680"/>
          <a:ext cx="11091672" cy="3154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WHAT 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Phoenix shows what good looks like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TEST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76.6%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9689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7D4F"/>
                </a:solidFill>
                <a:latin typeface="Calibri"/>
              </a:rPr>
              <a:t>from 64.7% (+12.0 pp)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373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6537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CYCLE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84831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1.8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9689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7D4F"/>
                </a:solidFill>
                <a:latin typeface="Calibri"/>
              </a:rPr>
              <a:t>from 2.6 d (-30%)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2841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CHANGE FAILURE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47872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59935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7D4F"/>
                </a:solidFill>
                <a:latin typeface="Calibri"/>
              </a:rPr>
              <a:t>from 5.4% (-5.4 pp)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20040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32841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DEPLOYMENT SUCCESS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47872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059935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7D4F"/>
                </a:solidFill>
                <a:latin typeface="Calibri"/>
              </a:rPr>
              <a:t>from 94.6% (+5.4 pp)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537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Changes compare weeks 13–16 with weeks 1–6 (medians; pooled rates for percentages), as tested.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9A6A0C"/>
                </a:solidFill>
                <a:latin typeface="Calibri"/>
              </a:rPr>
              <a:t>Directional only: </a:t>
            </a:r>
            <a:r>
              <a:rPr sz="1300" b="0" i="0">
                <a:solidFill>
                  <a:srgbClr val="16191D"/>
                </a:solidFill>
                <a:latin typeface="Calibri"/>
              </a:rPr>
              <a:t>escaped-defect rate 16.7% → 4.2% (6/36 vs 1/24 defects, p = 0.14). Too few defects to call it a trend yet.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7373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66B73"/>
                </a:solidFill>
                <a:latin typeface="Calibri"/>
              </a:rPr>
              <a:t>Test coverage, % (weekly)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172200" y="1965960"/>
          <a:ext cx="5468112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WHAT DETERIORATED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Atlas: slower delivery and falling quality, both since week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CYCLE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4.5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9689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from 3.2 d (+39%)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3736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6537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PR REVIEW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84831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16.5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9689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from 10 h (+65%)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2841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DEFECTS PER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47872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59935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from 6 (+100%)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20040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328416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TEST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47872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63.2%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059935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from 72% (-8.8 pp)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537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Changes compare weeks 13–16 with weeks 1–6 (medians; pooled rates for percentages), as tested.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E6B63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16191D"/>
                </a:solidFill>
                <a:latin typeface="Calibri"/>
              </a:rPr>
              <a:t>these move together, which is association. Coverage changes preceded defect changes by one week, so coverage is the first place to look, not a proven cause.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7373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66B73"/>
                </a:solidFill>
                <a:latin typeface="Calibri"/>
              </a:rPr>
              <a:t>Cycle time, days (weekly)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172200" y="1965960"/>
          <a:ext cx="5468112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EMERGING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Problems began between week 6 and week 11; none is a blip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67335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B73"/>
                </a:solidFill>
                <a:latin typeface="Calibri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1456" y="167335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B73"/>
                </a:solidFill>
                <a:latin typeface="Calibri"/>
              </a:rPr>
              <a:t>W4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8192" y="167335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B73"/>
                </a:solidFill>
                <a:latin typeface="Calibri"/>
              </a:rPr>
              <a:t>W7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167335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B73"/>
                </a:solidFill>
                <a:latin typeface="Calibri"/>
              </a:rPr>
              <a:t>W10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167335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B73"/>
                </a:solidFill>
                <a:latin typeface="Calibri"/>
              </a:rPr>
              <a:t>W13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67335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B73"/>
                </a:solidFill>
                <a:latin typeface="Calibri"/>
              </a:rPr>
              <a:t>W16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673351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66B73"/>
                </a:solidFill>
                <a:latin typeface="Calibri"/>
              </a:rPr>
              <a:t>W16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02536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Atlas · Test coverage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21424" y="2039112"/>
            <a:ext cx="3566160" cy="163068"/>
          </a:xfrm>
          <a:prstGeom prst="roundRect">
            <a:avLst>
              <a:gd name="adj" fmla="val 8000"/>
            </a:avLst>
          </a:prstGeom>
          <a:solidFill>
            <a:srgbClr val="B4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2002536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361F"/>
                </a:solidFill>
                <a:latin typeface="Calibri"/>
              </a:rPr>
              <a:t>-8.8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330196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Atlas · Automated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21424" y="2366772"/>
            <a:ext cx="3566160" cy="163068"/>
          </a:xfrm>
          <a:prstGeom prst="roundRect">
            <a:avLst>
              <a:gd name="adj" fmla="val 8000"/>
            </a:avLst>
          </a:prstGeom>
          <a:solidFill>
            <a:srgbClr val="B4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2330196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361F"/>
                </a:solidFill>
                <a:latin typeface="Calibri"/>
              </a:rPr>
              <a:t>-4.8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57856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Atlas · Review 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0336" y="2694432"/>
            <a:ext cx="3127248" cy="163068"/>
          </a:xfrm>
          <a:prstGeom prst="roundRect">
            <a:avLst>
              <a:gd name="adj" fmla="val 8000"/>
            </a:avLst>
          </a:prstGeom>
          <a:solidFill>
            <a:srgbClr val="B4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2657856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361F"/>
                </a:solidFill>
                <a:latin typeface="Calibri"/>
              </a:rPr>
              <a:t>+40%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985515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Atlas · PR review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21424" y="3022091"/>
            <a:ext cx="3566160" cy="163068"/>
          </a:xfrm>
          <a:prstGeom prst="roundRect">
            <a:avLst>
              <a:gd name="adj" fmla="val 8000"/>
            </a:avLst>
          </a:prstGeom>
          <a:solidFill>
            <a:srgbClr val="B4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2985515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361F"/>
                </a:solidFill>
                <a:latin typeface="Calibri"/>
              </a:rPr>
              <a:t>+65%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313175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Data · Change failure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21424" y="3349752"/>
            <a:ext cx="3566160" cy="163068"/>
          </a:xfrm>
          <a:prstGeom prst="roundRect">
            <a:avLst>
              <a:gd name="adj" fmla="val 8000"/>
            </a:avLst>
          </a:prstGeom>
          <a:solidFill>
            <a:srgbClr val="B4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3313175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361F"/>
                </a:solidFill>
                <a:latin typeface="Calibri"/>
              </a:rPr>
              <a:t>+21.6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640836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Data · Rollback 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3677412"/>
            <a:ext cx="4005072" cy="163068"/>
          </a:xfrm>
          <a:prstGeom prst="roundRect">
            <a:avLst>
              <a:gd name="adj" fmla="val 8000"/>
            </a:avLst>
          </a:prstGeom>
          <a:solidFill>
            <a:srgbClr val="B4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3640836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361F"/>
                </a:solidFill>
                <a:latin typeface="Calibri"/>
              </a:rPr>
              <a:t>+24.8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968496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Data · Failed deployments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005072"/>
            <a:ext cx="2249424" cy="163068"/>
          </a:xfrm>
          <a:prstGeom prst="roundRect">
            <a:avLst>
              <a:gd name="adj" fmla="val 8000"/>
            </a:avLst>
          </a:prstGeom>
          <a:solidFill>
            <a:srgbClr val="B4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0" y="3968496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361F"/>
                </a:solidFill>
                <a:latin typeface="Calibri"/>
              </a:rPr>
              <a:t>+1100%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296156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Data · On-call pages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9248" y="4332732"/>
            <a:ext cx="2688336" cy="163068"/>
          </a:xfrm>
          <a:prstGeom prst="roundRect">
            <a:avLst>
              <a:gd name="adj" fmla="val 8000"/>
            </a:avLst>
          </a:prstGeom>
          <a:solidFill>
            <a:srgbClr val="B4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4296156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361F"/>
                </a:solidFill>
                <a:latin typeface="Calibri"/>
              </a:rPr>
              <a:t>+93%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23816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Titan · Build 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4660392"/>
            <a:ext cx="4443984" cy="163068"/>
          </a:xfrm>
          <a:prstGeom prst="roundRect">
            <a:avLst>
              <a:gd name="adj" fmla="val 8000"/>
            </a:avLst>
          </a:prstGeom>
          <a:solidFill>
            <a:srgbClr val="B4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0" y="4623816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B4361F"/>
                </a:solidFill>
                <a:latin typeface="Calibri"/>
              </a:rPr>
              <a:t>+20%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951476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Phoenix · Automated tests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4988052"/>
            <a:ext cx="4443984" cy="163068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4951476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4F"/>
                </a:solidFill>
                <a:latin typeface="Calibri"/>
              </a:rPr>
              <a:t>+9.2 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279136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Phoenix · Test coverage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04688" y="5315712"/>
            <a:ext cx="4882896" cy="163068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5279136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4F"/>
                </a:solidFill>
                <a:latin typeface="Calibri"/>
              </a:rPr>
              <a:t>+12.0 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606796"/>
            <a:ext cx="310896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Phoenix · Rework rate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99248" y="5643372"/>
            <a:ext cx="2688336" cy="163068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0" y="5606796"/>
            <a:ext cx="1188720" cy="27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7D4F"/>
                </a:solidFill>
                <a:latin typeface="Calibri"/>
              </a:rPr>
              <a:t>-1.2 pp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080759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66B73"/>
                </a:solidFill>
                <a:latin typeface="Calibri"/>
              </a:rPr>
              <a:t>Bars run from the week each trend began to week 16. Red = deteriorating, green = improving.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TOP ENGINEERING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7 validated risks; 2 are critical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167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1480"/>
                <a:gridCol w="1234440"/>
                <a:gridCol w="5669280"/>
                <a:gridCol w="1737360"/>
                <a:gridCol w="1051560"/>
                <a:gridCol w="98755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73152" marT="27432" marB="27432" anchor="ctr">
                    <a:solidFill>
                      <a:srgbClr val="A327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Atlas: quality is deteriorating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73152" marT="27432" marB="27432" anchor="ctr">
                    <a:solidFill>
                      <a:srgbClr val="A327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Data: deployment and service reliability is deteriorating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Reliability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C461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Atlas: delivery is slowing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Delivery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96%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27432" marB="27432" anchor="ctr">
                    <a:solidFill>
                      <a:srgbClr val="C461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Atlas: engineering efficiency is declining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Engineering efficiency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27432" marB="27432" anchor="ctr">
                    <a:solidFill>
                      <a:srgbClr val="9A6A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Data: on-call load is rising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Sustainability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6B7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Nova / Mobile: one-week operational disruption in week 11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Operational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27432" marB="27432" anchor="ctr">
                    <a:solidFill>
                      <a:srgbClr val="6B748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Titan: engineering efficiency is declining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Engineering efficiency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6191D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QUALITY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Data platform: change failure rate rose from 5.4% to 27.1%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66B73"/>
                </a:solidFill>
                <a:latin typeface="Calibri"/>
              </a:rPr>
              <a:t>Change failure rate, % (4-week pooled)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965960"/>
          <a:ext cx="667512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06640" y="1737360"/>
            <a:ext cx="4233672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19" y="1865376"/>
            <a:ext cx="386791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ROLLBACK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2084831"/>
            <a:ext cx="38679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25.9%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19" y="2596896"/>
            <a:ext cx="3867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from 1.1% (+24.8 pp)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108960"/>
            <a:ext cx="4233672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3236976"/>
            <a:ext cx="386791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INCIDENTS PER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3456432"/>
            <a:ext cx="38679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5.5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968496"/>
            <a:ext cx="3867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from 1 (+450%)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480560"/>
            <a:ext cx="4233672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4608576"/>
            <a:ext cx="386791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ON-CALL PAGES PER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4828032"/>
            <a:ext cx="386791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6191D"/>
                </a:solidFill>
                <a:latin typeface="Cambria"/>
              </a:rPr>
              <a:t>14.5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5340096"/>
            <a:ext cx="38679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4361F"/>
                </a:solidFill>
                <a:latin typeface="Calibri"/>
              </a:rPr>
              <a:t>from 7.5 (+93%)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4476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Changes compare weeks 13–16 with weeks 1–6 (medians; pooled rates for percentages), as tested.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760720"/>
            <a:ext cx="4233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A6A0C"/>
                </a:solidFill>
                <a:latin typeface="Calibri"/>
              </a:rPr>
              <a:t>Possible explanation, unconfirmed: </a:t>
            </a:r>
            <a:r>
              <a:rPr sz="1200" b="0" i="0">
                <a:solidFill>
                  <a:srgbClr val="16191D"/>
                </a:solidFill>
                <a:latin typeface="Calibri"/>
              </a:rPr>
              <a:t>change-related incidents 50% → 80% (p = 0.097).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TEAM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Atlas trails on flow and quality; Data-platform teams on releases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91672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1604772"/>
                <a:gridCol w="1604772"/>
                <a:gridCol w="1604772"/>
                <a:gridCol w="1604772"/>
                <a:gridCol w="1604772"/>
                <a:gridCol w="160477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Cycle time (d)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 review time (h)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 coverage (%)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Defects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Change failure rate (%)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Incidents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191D"/>
                          </a:solidFill>
                          <a:latin typeface="Calibri"/>
                        </a:rPr>
                        <a:t>Atlas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4.8 d</a:t>
                      </a:r>
                    </a:p>
                  </a:txBody>
                  <a:tcPr marL="73152" marR="73152" marT="27432" marB="27432" anchor="ctr">
                    <a:solidFill>
                      <a:srgbClr val="F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16.6 h</a:t>
                      </a:r>
                    </a:p>
                  </a:txBody>
                  <a:tcPr marL="73152" marR="73152" marT="27432" marB="27432" anchor="ctr">
                    <a:solidFill>
                      <a:srgbClr val="F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62.8%</a:t>
                      </a:r>
                    </a:p>
                  </a:txBody>
                  <a:tcPr marL="73152" marR="73152" marT="27432" marB="27432" anchor="ctr">
                    <a:solidFill>
                      <a:srgbClr val="F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12.2</a:t>
                      </a:r>
                    </a:p>
                  </a:txBody>
                  <a:tcPr marL="73152" marR="73152" marT="27432" marB="27432" anchor="ctr">
                    <a:solidFill>
                      <a:srgbClr val="F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73152" marR="73152" marT="27432" marB="27432" anchor="ctr">
                    <a:solidFill>
                      <a:srgbClr val="DF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73152" marR="73152" marT="27432" marB="27432" anchor="ctr">
                    <a:solidFill>
                      <a:srgbClr val="DF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191D"/>
                          </a:solidFill>
                          <a:latin typeface="Calibri"/>
                        </a:rPr>
                        <a:t>Nova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2.8 d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9.1 h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73.9%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1.8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191D"/>
                          </a:solidFill>
                          <a:latin typeface="Calibri"/>
                        </a:rPr>
                        <a:t>Orion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2.9 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10.6 h</a:t>
                      </a:r>
                    </a:p>
                  </a:txBody>
                  <a:tcPr marL="73152" marR="73152" marT="27432" marB="27432" anchor="ctr">
                    <a:solidFill>
                      <a:srgbClr val="F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70.7%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6.2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18.4%</a:t>
                      </a:r>
                    </a:p>
                  </a:txBody>
                  <a:tcPr marL="73152" marR="73152" marT="27432" marB="27432" anchor="ctr">
                    <a:solidFill>
                      <a:srgbClr val="F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marL="73152" marR="73152" marT="27432" marB="27432" anchor="ctr">
                    <a:solidFill>
                      <a:srgbClr val="F6E2D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191D"/>
                          </a:solidFill>
                          <a:latin typeface="Calibri"/>
                        </a:rPr>
                        <a:t>Phoenix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1.8 d</a:t>
                      </a:r>
                    </a:p>
                  </a:txBody>
                  <a:tcPr marL="73152" marR="73152" marT="27432" marB="27432" anchor="ctr">
                    <a:solidFill>
                      <a:srgbClr val="DF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6.5 h</a:t>
                      </a:r>
                    </a:p>
                  </a:txBody>
                  <a:tcPr marL="73152" marR="73152" marT="27432" marB="27432" anchor="ctr">
                    <a:solidFill>
                      <a:srgbClr val="DF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76.5%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3152" marR="73152" marT="27432" marB="27432" anchor="ctr">
                    <a:solidFill>
                      <a:srgbClr val="DF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 marL="73152" marR="73152" marT="27432" marB="27432" anchor="ctr">
                    <a:solidFill>
                      <a:srgbClr val="DFEFE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191D"/>
                          </a:solidFill>
                          <a:latin typeface="Calibri"/>
                        </a:rPr>
                        <a:t>Titan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2.6 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7.2 h</a:t>
                      </a:r>
                    </a:p>
                  </a:txBody>
                  <a:tcPr marL="73152" marR="73152" marT="27432" marB="27432" anchor="ctr">
                    <a:solidFill>
                      <a:srgbClr val="DFEF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74.6%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17.2%</a:t>
                      </a:r>
                    </a:p>
                  </a:txBody>
                  <a:tcPr marL="73152" marR="73152" marT="27432" marB="27432" anchor="ctr">
                    <a:solidFill>
                      <a:srgbClr val="F6E2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500" b="0">
                          <a:solidFill>
                            <a:srgbClr val="16191D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marL="73152" marR="73152" marT="27432" marB="27432" anchor="ctr">
                    <a:solidFill>
                      <a:srgbClr val="F6E2D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66B73"/>
                </a:solidFill>
                <a:latin typeface="Calibri"/>
              </a:rPr>
              <a:t>Average of weeks 13–16. Red: at least 15% worse than the median team; green: at least 15% better. Defects and incidents are counts per week.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RECOMMENDED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4 priority actions, each with an owner and a measurable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9824" cy="16916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P1 · ENGINEERING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6191D"/>
                </a:solidFill>
                <a:latin typeface="Cambria"/>
              </a:rPr>
              <a:t>Unblock code review: reviewer load, turnaround target,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B73"/>
                </a:solidFill>
                <a:latin typeface="Calibri"/>
              </a:rPr>
              <a:t>Target: pr review time ≤ 11 hours by week 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37360"/>
            <a:ext cx="5449824" cy="16916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202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P1 · ENGINEERING MANAGER + TECH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6191D"/>
                </a:solidFill>
                <a:latin typeface="Cambria"/>
              </a:rPr>
              <a:t>Find where coverage fell and gate coverage on changed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926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B73"/>
                </a:solidFill>
                <a:latin typeface="Calibri"/>
              </a:rPr>
              <a:t>Target: test coverage ≥ 69% by week 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79"/>
            <a:ext cx="5449824" cy="16916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9475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P1 · PLATFORM / SRE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69079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6191D"/>
                </a:solidFill>
                <a:latin typeface="Cambria"/>
              </a:rPr>
              <a:t>Run a joint failed-deployment review and tighten release gating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B73"/>
                </a:solidFill>
                <a:latin typeface="Calibri"/>
              </a:rPr>
              <a:t>Target: change failure rate ≤ 8.4% by week 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611879"/>
            <a:ext cx="5449824" cy="16916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79475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P1 · TECH LEAD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69079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6191D"/>
                </a:solidFill>
                <a:latin typeface="Cambria"/>
              </a:rPr>
              <a:t>Ship smaller, independently reviewable PRs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8006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66B73"/>
                </a:solidFill>
                <a:latin typeface="Calibri"/>
              </a:rPr>
              <a:t>Target: pr size ≤ 212.3 LOC by week 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6B63"/>
                </a:solidFill>
                <a:latin typeface="Calibri"/>
              </a:rPr>
              <a:t>P2  </a:t>
            </a:r>
            <a:r>
              <a:rPr sz="1200" b="0" i="0">
                <a:solidFill>
                  <a:srgbClr val="16191D"/>
                </a:solidFill>
                <a:latin typeface="Calibri"/>
              </a:rPr>
              <a:t>Spread Phoenix's practices to teams where quality is falling (Engineering director)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6B63"/>
                </a:solidFill>
                <a:latin typeface="Calibri"/>
              </a:rPr>
              <a:t>P2  </a:t>
            </a:r>
            <a:r>
              <a:rPr sz="1200" b="0" i="0">
                <a:solidFill>
                  <a:srgbClr val="16191D"/>
                </a:solidFill>
                <a:latin typeface="Calibri"/>
              </a:rPr>
              <a:t>Audit on-call pages: actionable versus noise (SRE lead + engineering manager)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6B63"/>
                </a:solidFill>
                <a:latin typeface="Calibri"/>
              </a:rPr>
              <a:t>P3  </a:t>
            </a:r>
            <a:r>
              <a:rPr sz="1200" b="0" i="0">
                <a:solidFill>
                  <a:srgbClr val="16191D"/>
                </a:solidFill>
                <a:latin typeface="Calibri"/>
              </a:rPr>
              <a:t>Confirm the post-incident review; act only if it recurs (Team lead)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6B63"/>
                </a:solidFill>
                <a:latin typeface="Calibri"/>
              </a:rPr>
              <a:t>P3  </a:t>
            </a:r>
            <a:r>
              <a:rPr sz="1200" b="0" i="0">
                <a:solidFill>
                  <a:srgbClr val="16191D"/>
                </a:solidFill>
                <a:latin typeface="Calibri"/>
              </a:rPr>
              <a:t>Profile the CI pipeline before it slows the team further (Tech lead / developer-productivity owner)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EXPECTED OUTCOMES &amp;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Success means each lead metric is back near its own baseline by week 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167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66160"/>
                <a:gridCol w="1600200"/>
                <a:gridCol w="960120"/>
                <a:gridCol w="960120"/>
                <a:gridCol w="1097280"/>
                <a:gridCol w="868680"/>
                <a:gridCol w="203911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Lead metric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Now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By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27432" marB="27432" anchor="ctr">
                    <a:solidFill>
                      <a:srgbClr val="16191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Unblock code review: reviewer load, turnaround target, rotation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PR review 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10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16.5 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≤ 11 hours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week 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Engineering manager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Find where coverage fell and gate coverage on changed code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Test coverage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63.2%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≥ 69%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week 22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Engineering manager + tech lead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Run a joint failed-deployment review and tighten release gating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Change failure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5.4%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27.1%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≤ 8.4%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week 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Platform / SRE lead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Ship smaller, independently reviewable PRs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PR size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193 LOC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245 LOC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≤ 212.3 LOC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week 22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Tech lead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Audit on-call pages: actionable versus noise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On-call pages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14.5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≤ 8.2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week 22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SRE lead + engineering manager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Profile the CI pipeline before it slows the team further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Build time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12.5 min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15 min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≤ 13.8 minutes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week 22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6191D"/>
                          </a:solidFill>
                          <a:latin typeface="Calibri"/>
                        </a:rPr>
                        <a:t>Tech lead / developer-productivity owner</a:t>
                      </a:r>
                    </a:p>
                  </a:txBody>
                  <a:tcPr marL="73152" marR="73152" marT="27432" marB="27432" anchor="ctr">
                    <a:solidFill>
                      <a:srgbClr val="F3F3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HOW THE INTELLIGENCE SYSTEM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Narrow agents, and a critic that can say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0312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91D"/>
                </a:solidFill>
                <a:latin typeface="Calibri"/>
              </a:rPr>
              <a:t>Synthetic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77440"/>
            <a:ext cx="1563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5 CSV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20116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16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210312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01 Validation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2377440"/>
            <a:ext cx="1563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9CDD2"/>
                </a:solidFill>
                <a:latin typeface="Calibri"/>
              </a:rPr>
              <a:t>stop on bad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0116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0312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91D"/>
                </a:solidFill>
                <a:latin typeface="Calibri"/>
              </a:rPr>
              <a:t>02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77440"/>
            <a:ext cx="1563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traceable series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60020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69164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91D"/>
                </a:solidFill>
                <a:latin typeface="Calibri"/>
              </a:rPr>
              <a:t>04 Trends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42316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51460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91D"/>
                </a:solidFill>
                <a:latin typeface="Calibri"/>
              </a:rPr>
              <a:t>05 Anomalies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01168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7" y="210312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91D"/>
                </a:solidFill>
                <a:latin typeface="Calibri"/>
              </a:rPr>
              <a:t>03 Quality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5204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7" y="361188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91D"/>
                </a:solidFill>
                <a:latin typeface="Calibri"/>
              </a:rPr>
              <a:t>06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3886200"/>
            <a:ext cx="1563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proposes widely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5204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361188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91D"/>
                </a:solidFill>
                <a:latin typeface="Calibri"/>
              </a:rPr>
              <a:t>07 Coach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6248" y="3886200"/>
            <a:ext cx="1563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actions + targets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60" y="35204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16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0288" y="3611880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08 Evidence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886200"/>
            <a:ext cx="1563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9CDD2"/>
                </a:solidFill>
                <a:latin typeface="Calibri"/>
              </a:rPr>
              <a:t>pass / caveat / reject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14600" y="48920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24328" y="4983479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91D"/>
                </a:solidFill>
                <a:latin typeface="Calibri"/>
              </a:rPr>
              <a:t>09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48920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4983479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91D"/>
                </a:solidFill>
                <a:latin typeface="Calibri"/>
              </a:rPr>
              <a:t>10 Report + deck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4892040"/>
            <a:ext cx="1783080" cy="68580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983479"/>
            <a:ext cx="1563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6191D"/>
                </a:solidFill>
                <a:latin typeface="Calibri"/>
              </a:rPr>
              <a:t>AI narratives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5257800"/>
            <a:ext cx="1563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re-validated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331720" y="2354580"/>
            <a:ext cx="182880" cy="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297680" y="2354580"/>
            <a:ext cx="182880" cy="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263640" y="1943100"/>
            <a:ext cx="182880" cy="29718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263640" y="2468880"/>
            <a:ext cx="182880" cy="29718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29600" y="1943100"/>
            <a:ext cx="182880" cy="29718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8229600" y="2468880"/>
            <a:ext cx="182880" cy="29718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304020" y="2697480"/>
            <a:ext cx="0" cy="82296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229600" y="3863339"/>
            <a:ext cx="182880" cy="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6263640" y="3863339"/>
            <a:ext cx="182880" cy="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566160" y="4206240"/>
            <a:ext cx="1280160" cy="68580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372100" y="4206240"/>
            <a:ext cx="0" cy="68580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852160" y="4206240"/>
            <a:ext cx="1097280" cy="685800"/>
          </a:xfrm>
          <a:prstGeom prst="line">
            <a:avLst/>
          </a:prstGeom>
          <a:ln w="19050">
            <a:solidFill>
              <a:srgbClr val="66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8640" y="36118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Feedback loop: </a:t>
            </a:r>
            <a:r>
              <a:rPr sz="1200" b="0" i="0">
                <a:solidFill>
                  <a:srgbClr val="16191D"/>
                </a:solidFill>
                <a:latin typeface="Calibri"/>
              </a:rPr>
              <a:t>a rejected risk sends Agent 07 back to rebuild its recommendations without it, then Agent 08 checks again.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8463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E6B63"/>
                </a:solidFill>
                <a:latin typeface="Calibri"/>
              </a:rPr>
              <a:t>Rule: </a:t>
            </a:r>
            <a:r>
              <a:rPr sz="1200" b="0" i="0">
                <a:solidFill>
                  <a:srgbClr val="16191D"/>
                </a:solidFill>
                <a:latin typeface="Calibri"/>
              </a:rPr>
              <a:t>code computes every number; AI may only reword validated findings.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B73"/>
                </a:solidFill>
                <a:latin typeface="Calibri"/>
              </a:rPr>
              <a:t>Engineering Health Review · synthetic organisation · validated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66B73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E6B63"/>
                </a:solidFill>
                <a:latin typeface="Calibri"/>
              </a:rPr>
              <a:t>EVIDENCE &amp; CONFIDENCE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191D"/>
                </a:solidFill>
                <a:latin typeface="Cambria"/>
              </a:rPr>
              <a:t>Every finding is challenged before it reaches this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69164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6537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E7D4F"/>
                </a:solidFill>
                <a:latin typeface="Cambria"/>
              </a:rPr>
              <a:t>276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9689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66B73"/>
                </a:solidFill>
                <a:latin typeface="Calibri"/>
              </a:rPr>
              <a:t>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737360"/>
            <a:ext cx="169164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86537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WITH CAVEAT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084831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9A6A0C"/>
                </a:solidFill>
                <a:latin typeface="Cambria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59689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66B73"/>
                </a:solidFill>
                <a:latin typeface="Calibri"/>
              </a:rPr>
              <a:t>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737360"/>
            <a:ext cx="1691640" cy="1234440"/>
          </a:xfrm>
          <a:prstGeom prst="roundRect">
            <a:avLst>
              <a:gd name="adj" fmla="val 8000"/>
            </a:avLst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865376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B73"/>
                </a:solidFill>
                <a:latin typeface="Calibri"/>
              </a:rPr>
              <a:t>REJECTED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84831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B4361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596896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66B73"/>
                </a:solidFill>
                <a:latin typeface="Calibri"/>
              </a:rPr>
              <a:t>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5349240" cy="2331720"/>
          </a:xfrm>
          <a:prstGeom prst="roundRect">
            <a:avLst>
              <a:gd name="adj" fmla="val 8000"/>
            </a:avLst>
          </a:prstGeom>
          <a:solidFill>
            <a:srgbClr val="F6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2900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B4361F"/>
                </a:solidFill>
                <a:latin typeface="Calibri"/>
              </a:rPr>
              <a:t>REJECTED 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6191D"/>
                </a:solidFill>
                <a:latin typeface="Cambria"/>
              </a:rPr>
              <a:t>“Rising throughput may be slowing Titan's builds”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434840"/>
            <a:ext cx="4892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6191D"/>
                </a:solidFill>
                <a:latin typeface="Calibri"/>
              </a:rPr>
              <a:t>Both track team size (r = 0.96; headcount 7 → 10.5). Controlling for headcount, the association drops to r = -0.34. A common driver, not a cause.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7373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666B73"/>
                </a:solidFill>
                <a:latin typeface="Calibri"/>
              </a:rPr>
              <a:t>How confidence is computed (component weights)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263640" y="2011680"/>
          <a:ext cx="539496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FC8BE"/>
                </a:solidFill>
                <a:latin typeface="Calibri"/>
              </a:rPr>
              <a:t>APPENDIX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How to read these numbers, and their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7FC8BE"/>
                </a:solidFill>
                <a:latin typeface="Calibri"/>
              </a:rPr>
              <a:t>Data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5D8DC"/>
                </a:solidFill>
                <a:latin typeface="Calibri"/>
              </a:rPr>
              <a:t>2,360 of 2,361 records usable; data quality 93.8/100.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5D8DC"/>
                </a:solidFill>
                <a:latin typeface="Calibri"/>
              </a:rPr>
              <a:t>Four injected defects were caught: a duplicate, a missing value, an invalid value and an inconsistent total. Each was handled by a documented exception; source data is never edited.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7FC8BE"/>
                </a:solidFill>
                <a:latin typeface="Calibri"/>
              </a:rPr>
              <a:t>Trends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5D8DC"/>
                </a:solidFill>
                <a:latin typeface="Calibri"/>
              </a:rPr>
              <a:t>At least 5 weeks, Mann-Kendall |tau| ≥ 0.4 with p ≤ 0.05, a change of at least 10% (3 pp for rates), and at least 2× normal noise. Rates use pooled counts and a two-proportion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78308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7FC8BE"/>
                </a:solidFill>
                <a:latin typeface="Calibri"/>
              </a:rPr>
              <a:t>Health index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5D8DC"/>
                </a:solidFill>
                <a:latin typeface="Calibri"/>
              </a:rPr>
              <a:t>Relative: 75 = organisation level in weeks 1–4, 100 = 25% better, 50 = 25% worse. Not an absolute grade.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7FC8BE"/>
                </a:solidFill>
                <a:latin typeface="Calibri"/>
              </a:rPr>
              <a:t>Causality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5D8DC"/>
                </a:solidFill>
                <a:latin typeface="Calibri"/>
              </a:rPr>
              <a:t>Explanations are possibilities. They are rejected if a common driver explains them (partial r &lt; 0.5) or if the series only share a time trend.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7FC8BE"/>
                </a:solidFill>
                <a:latin typeface="Calibri"/>
              </a:rPr>
              <a:t>Limitations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5D8DC"/>
                </a:solidFill>
                <a:latin typeface="Calibri"/>
              </a:rPr>
              <a:t>Synthetic data with one service per team and platform; 16 weeks is a short history; small weekly samples limit what rate changes can be proven.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Health Review</dc:title>
  <dc:subject/>
  <dc:creator>Engineering Health Intelligence System (Agent 10)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